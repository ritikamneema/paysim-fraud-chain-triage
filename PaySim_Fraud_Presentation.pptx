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PaySim Fraud Detection: Chain-Aware Real-Time Triage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 245 – Machine Learning Technologies</a:t>
            </a:r>
          </a:p>
          <a:p>
            <a:pPr>
              <a:defRPr sz="2000"/>
            </a:pPr>
            <a:r>
              <a:t>Goal: Detect rare fraud and output actionable triage (Allow / Review / Block)</a:t>
            </a:r>
          </a:p>
          <a:p>
            <a:pPr>
              <a:defRPr sz="2000"/>
            </a:pPr>
            <a:r>
              <a:t>Team: [Add names] | Date: [Add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Motivation (Why this problem?)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Fraud is rare but costly in financial systems</a:t>
            </a:r>
          </a:p>
          <a:p>
            <a:pPr>
              <a:defRPr sz="2000"/>
            </a:pPr>
            <a:r>
              <a:t>In PaySim, fraud is only 0.13% of all transactions</a:t>
            </a:r>
          </a:p>
          <a:p>
            <a:pPr>
              <a:defRPr sz="2000"/>
            </a:pPr>
            <a:r>
              <a:t>Class imbalance is extreme (773:1), so accuracy is misleading</a:t>
            </a:r>
          </a:p>
          <a:p>
            <a:pPr>
              <a:defRPr sz="2000"/>
            </a:pPr>
            <a:r>
              <a:t>Need high fraud capture with low operational burden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Real-World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Applicable to fintech, digital wallets, and banking fraud teams</a:t>
            </a:r>
          </a:p>
          <a:p>
            <a:pPr>
              <a:defRPr sz="2000"/>
            </a:pPr>
            <a:r>
              <a:t>Supports real-time risk triage for analyst workflows</a:t>
            </a:r>
          </a:p>
          <a:p>
            <a:pPr>
              <a:defRPr sz="2000"/>
            </a:pPr>
            <a:r>
              <a:t>Calibrated probabilities improve trust and decision quality</a:t>
            </a:r>
          </a:p>
          <a:p>
            <a:pPr>
              <a:defRPr sz="2000"/>
            </a:pPr>
            <a:r>
              <a:t>Drift monitoring supports long-term production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a model to identify fraudulent transactions in PaySim</a:t>
            </a:r>
          </a:p>
          <a:p>
            <a:pPr>
              <a:defRPr sz="2000"/>
            </a:pPr>
            <a:r>
              <a:t>Go beyond row-wise scoring by adding chain behavior context</a:t>
            </a:r>
          </a:p>
          <a:p>
            <a:pPr>
              <a:defRPr sz="2000"/>
            </a:pPr>
            <a:r>
              <a:t>Output both risk score and triage action bucket</a:t>
            </a:r>
          </a:p>
          <a:p>
            <a:pPr>
              <a:defRPr sz="2000"/>
            </a:pPr>
            <a:r>
              <a:t>Focus on PR-AUC, recall, and deployment-ready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Source: Kaggle PaySim (mobile money simulation)</a:t>
            </a:r>
          </a:p>
          <a:p>
            <a:pPr>
              <a:defRPr sz="2000"/>
            </a:pPr>
            <a:r>
              <a:t>File: PS_20174392719_1491204439457_log.csv</a:t>
            </a:r>
          </a:p>
          <a:p>
            <a:pPr>
              <a:defRPr sz="2000"/>
            </a:pPr>
            <a:r>
              <a:t>Size: 6,362,620 transactions, 11 columns (~534 MB)</a:t>
            </a:r>
          </a:p>
          <a:p>
            <a:pPr>
              <a:defRPr sz="2000"/>
            </a:pPr>
            <a:r>
              <a:t>Target: isFraud (1=fraud, 0=legitimate)</a:t>
            </a:r>
          </a:p>
          <a:p>
            <a:pPr>
              <a:defRPr sz="2000"/>
            </a:pPr>
            <a:r>
              <a:t>Class distribution: 6,354,407 legit vs 8,213 fraud (0.13%)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Model Input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 type: tabular transaction data + engineered tabular features</a:t>
            </a:r>
          </a:p>
          <a:p>
            <a:pPr>
              <a:defRPr sz="2000"/>
            </a:pPr>
            <a:r>
              <a:t>Features: step, type, balances, amount-derived signals</a:t>
            </a:r>
          </a:p>
          <a:p>
            <a:pPr>
              <a:defRPr sz="2000"/>
            </a:pPr>
            <a:r>
              <a:t>Engineered: orig_delta, dest_delta, orig_residual, log_amount</a:t>
            </a:r>
          </a:p>
          <a:p>
            <a:pPr>
              <a:defRPr sz="2000"/>
            </a:pPr>
            <a:r>
              <a:t>Chain-aware: chain_size and is_chain_member</a:t>
            </a:r>
          </a:p>
          <a:p>
            <a:pPr>
              <a:defRPr sz="2000"/>
            </a:pPr>
            <a:r>
              <a:t>Shape (high level): one transaction row -&gt; one feature vector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Model Output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Primary output: calibrated fraud probability P(isFraud=1)</a:t>
            </a:r>
          </a:p>
          <a:p>
            <a:pPr>
              <a:defRPr sz="2000"/>
            </a:pPr>
            <a:r>
              <a:t>Prediction type: binary classification</a:t>
            </a:r>
          </a:p>
          <a:p>
            <a:pPr>
              <a:defRPr sz="2000"/>
            </a:pPr>
            <a:r>
              <a:t>Decision output: GREEN / YELLOW / RED</a:t>
            </a:r>
          </a:p>
          <a:p>
            <a:pPr>
              <a:defRPr sz="2000"/>
            </a:pPr>
            <a:r>
              <a:t>GREEN=Allow, YELLOW=Review, RED=Block</a:t>
            </a:r>
          </a:p>
          <a:p>
            <a:pPr>
              <a:defRPr sz="2000"/>
            </a:pPr>
            <a:r>
              <a:t>Model output is directly mapped to business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Input -&gt; Model -&gt; Output (End-to-End)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Raw transaction row</a:t>
            </a:r>
          </a:p>
          <a:p>
            <a:pPr>
              <a:defRPr sz="2000"/>
            </a:pPr>
            <a:r>
              <a:t>-&gt; Feature engineering (balance, log, chain features)</a:t>
            </a:r>
          </a:p>
          <a:p>
            <a:pPr>
              <a:defRPr sz="2000"/>
            </a:pPr>
            <a:r>
              <a:t>-&gt; Preprocessing (encode + scale)</a:t>
            </a:r>
          </a:p>
          <a:p>
            <a:pPr>
              <a:defRPr sz="2000"/>
            </a:pPr>
            <a:r>
              <a:t>-&gt; Model scoring (CatBoost / RF / XGBoost)</a:t>
            </a:r>
          </a:p>
          <a:p>
            <a:pPr>
              <a:defRPr sz="2000"/>
            </a:pPr>
            <a:r>
              <a:t>-&gt; Probability calibration (sigmoid/isotonic)</a:t>
            </a:r>
          </a:p>
          <a:p>
            <a:pPr>
              <a:defRPr sz="2000"/>
            </a:pPr>
            <a:r>
              <a:t>-&gt; Cost-sensitive triage policy (+ chain escalation)</a:t>
            </a:r>
          </a:p>
          <a:p>
            <a:pPr>
              <a:defRPr sz="2000"/>
            </a:pPr>
            <a:r>
              <a:t>-&gt; Output: probability + GREEN/YELLOW/RED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Proposed Solution /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Novel finding: fraud strongly follows transfer-&gt;cash_out chain patterns</a:t>
            </a:r>
          </a:p>
          <a:p>
            <a:pPr>
              <a:defRPr sz="2000"/>
            </a:pPr>
            <a:r>
              <a:t>Models benchmarked on same chain-aware pipeline</a:t>
            </a:r>
          </a:p>
          <a:p>
            <a:pPr>
              <a:defRPr sz="2000"/>
            </a:pPr>
            <a:r>
              <a:t>Final deployment model selected by calibration quality (Brier + PR-AUC)</a:t>
            </a:r>
          </a:p>
          <a:p>
            <a:pPr>
              <a:defRPr sz="2000"/>
            </a:pPr>
            <a:r>
              <a:t>System novelty: combine prediction + chain context + triage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Train/test strategy: stratified split on extreme-imbalance data</a:t>
            </a:r>
          </a:p>
          <a:p>
            <a:pPr>
              <a:defRPr sz="2000"/>
            </a:pPr>
            <a:r>
              <a:t>Compared models: LR, RF, XGBoost, LightGBM, CatBoost, BRF, GNB</a:t>
            </a:r>
          </a:p>
          <a:p>
            <a:pPr>
              <a:defRPr sz="2000"/>
            </a:pPr>
            <a:r>
              <a:t>Imbalance handling: class weighting and SMOTE variants</a:t>
            </a:r>
          </a:p>
          <a:p>
            <a:pPr>
              <a:defRPr sz="2000"/>
            </a:pPr>
            <a:r>
              <a:t>Calibration: CalibratedClassifierCV with sigmoid and isotonic</a:t>
            </a:r>
          </a:p>
          <a:p>
            <a:pPr>
              <a:defRPr sz="2000"/>
            </a:pPr>
            <a:r>
              <a:t>Metrics: PR-AUC, Recall, Precision, ROC-AUC, Brier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Final selected model: catboost_plain_sigmoid</a:t>
            </a:r>
          </a:p>
          <a:p>
            <a:pPr>
              <a:defRPr sz="2000"/>
            </a:pPr>
            <a:r>
              <a:t>PR-AUC (test): 0.998554</a:t>
            </a:r>
          </a:p>
          <a:p>
            <a:pPr>
              <a:defRPr sz="2000"/>
            </a:pPr>
            <a:r>
              <a:t>Bootstrap 95% CI for PR-AUC: [0.996327, 0.999950]</a:t>
            </a:r>
          </a:p>
          <a:p>
            <a:pPr>
              <a:defRPr sz="2000"/>
            </a:pPr>
            <a:r>
              <a:t>Threshold tuning used cost_fp=5 and cost_fn=500</a:t>
            </a:r>
          </a:p>
          <a:p>
            <a:pPr>
              <a:defRPr sz="2000"/>
            </a:pPr>
            <a:r>
              <a:t>Error analysis: very low missed fraud; no RED false positives on shown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Takeaway: chain-aware calibrated triage is effective for rare fraud</a:t>
            </a:r>
          </a:p>
          <a:p>
            <a:pPr>
              <a:defRPr sz="2000"/>
            </a:pPr>
            <a:r>
              <a:t>Impact: supports real-time fraud operations and analyst prioritization</a:t>
            </a:r>
          </a:p>
          <a:p>
            <a:pPr>
              <a:defRPr sz="2000"/>
            </a:pPr>
            <a:r>
              <a:t>Future work: stronger non-chain fraud features (graph/sequence)</a:t>
            </a:r>
          </a:p>
          <a:p>
            <a:pPr>
              <a:defRPr sz="2000"/>
            </a:pPr>
            <a:r>
              <a:t>Future work: periodic recalibration, drift-triggered retraining</a:t>
            </a:r>
          </a:p>
          <a:p>
            <a:pPr>
              <a:defRPr sz="2000"/>
            </a:pPr>
            <a:r>
              <a:t>Future work: validate on real-world non-simulated transactions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